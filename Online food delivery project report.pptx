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Interphases" charset="1" panose="02000503020000020004"/>
      <p:regular r:id="rId22"/>
    </p:embeddedFont>
    <p:embeddedFont>
      <p:font typeface="Times New Roman MT Bold" charset="1" panose="02030802070405020303"/>
      <p:regular r:id="rId23"/>
    </p:embeddedFont>
    <p:embeddedFont>
      <p:font typeface="TT Interphases Bold" charset="1" panose="0200080306000002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86254" y="3523003"/>
            <a:ext cx="11934333" cy="876286"/>
          </a:xfrm>
          <a:prstGeom prst="rect">
            <a:avLst/>
          </a:prstGeom>
        </p:spPr>
        <p:txBody>
          <a:bodyPr anchor="t" rtlCol="false" tIns="0" lIns="0" bIns="0" rIns="0">
            <a:spAutoFit/>
          </a:bodyPr>
          <a:lstStyle/>
          <a:p>
            <a:pPr algn="l">
              <a:lnSpc>
                <a:spcPts val="6392"/>
              </a:lnSpc>
            </a:pPr>
            <a:r>
              <a:rPr lang="en-US" sz="7347" spc="-360">
                <a:solidFill>
                  <a:srgbClr val="FFFFFF"/>
                </a:solidFill>
                <a:latin typeface="TT Interphases"/>
                <a:ea typeface="TT Interphases"/>
                <a:cs typeface="TT Interphases"/>
                <a:sym typeface="TT Interphases"/>
              </a:rPr>
              <a:t>SQL Project  Report </a:t>
            </a:r>
          </a:p>
        </p:txBody>
      </p:sp>
      <p:sp>
        <p:nvSpPr>
          <p:cNvPr name="Freeform 3" id="3"/>
          <p:cNvSpPr/>
          <p:nvPr/>
        </p:nvSpPr>
        <p:spPr>
          <a:xfrm flipH="true" flipV="false" rot="-10800000">
            <a:off x="0" y="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59073" y="1406721"/>
            <a:ext cx="12267395" cy="4870725"/>
            <a:chOff x="0" y="0"/>
            <a:chExt cx="16356527" cy="6494300"/>
          </a:xfrm>
        </p:grpSpPr>
        <p:sp>
          <p:nvSpPr>
            <p:cNvPr name="Freeform 5" id="5"/>
            <p:cNvSpPr/>
            <p:nvPr/>
          </p:nvSpPr>
          <p:spPr>
            <a:xfrm flipH="false" flipV="false" rot="0">
              <a:off x="10565703" y="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0" y="1457325"/>
              <a:ext cx="16356527" cy="4277948"/>
            </a:xfrm>
            <a:prstGeom prst="rect">
              <a:avLst/>
            </a:prstGeom>
          </p:spPr>
          <p:txBody>
            <a:bodyPr anchor="t" rtlCol="false" tIns="0" lIns="0" bIns="0" rIns="0">
              <a:spAutoFit/>
            </a:bodyPr>
            <a:lstStyle/>
            <a:p>
              <a:pPr algn="l">
                <a:lnSpc>
                  <a:spcPts val="11746"/>
                </a:lnSpc>
              </a:pPr>
              <a:r>
                <a:rPr lang="en-US" sz="13501" spc="-661">
                  <a:solidFill>
                    <a:srgbClr val="000000"/>
                  </a:solidFill>
                  <a:latin typeface="TT Interphases"/>
                  <a:ea typeface="TT Interphases"/>
                  <a:cs typeface="TT Interphases"/>
                  <a:sym typeface="TT Interphases"/>
                </a:rPr>
                <a:t>Online Food Delivery </a:t>
              </a:r>
            </a:p>
          </p:txBody>
        </p:sp>
        <p:sp>
          <p:nvSpPr>
            <p:cNvPr name="TextBox 7" id="7"/>
            <p:cNvSpPr txBox="true"/>
            <p:nvPr/>
          </p:nvSpPr>
          <p:spPr>
            <a:xfrm rot="0">
              <a:off x="222041" y="5859098"/>
              <a:ext cx="7467247" cy="635202"/>
            </a:xfrm>
            <a:prstGeom prst="rect">
              <a:avLst/>
            </a:prstGeom>
          </p:spPr>
          <p:txBody>
            <a:bodyPr anchor="t" rtlCol="false" tIns="0" lIns="0" bIns="0" rIns="0">
              <a:spAutoFit/>
            </a:bodyPr>
            <a:lstStyle/>
            <a:p>
              <a:pPr algn="l">
                <a:lnSpc>
                  <a:spcPts val="3338"/>
                </a:lnSpc>
              </a:pPr>
              <a:r>
                <a:rPr lang="en-US" sz="3836" spc="-188">
                  <a:solidFill>
                    <a:srgbClr val="000000"/>
                  </a:solidFill>
                  <a:latin typeface="TT Interphases"/>
                  <a:ea typeface="TT Interphases"/>
                  <a:cs typeface="TT Interphases"/>
                  <a:sym typeface="TT Interphases"/>
                </a:rPr>
                <a:t>Project Report</a:t>
              </a:r>
            </a:p>
          </p:txBody>
        </p:sp>
      </p:grpSp>
      <p:sp>
        <p:nvSpPr>
          <p:cNvPr name="Freeform 8" id="8"/>
          <p:cNvSpPr/>
          <p:nvPr/>
        </p:nvSpPr>
        <p:spPr>
          <a:xfrm flipH="false" flipV="false" rot="0">
            <a:off x="11076899" y="1406721"/>
            <a:ext cx="6319281" cy="5192158"/>
          </a:xfrm>
          <a:custGeom>
            <a:avLst/>
            <a:gdLst/>
            <a:ahLst/>
            <a:cxnLst/>
            <a:rect r="r" b="b" t="t" l="l"/>
            <a:pathLst>
              <a:path h="5192158" w="6319281">
                <a:moveTo>
                  <a:pt x="0" y="0"/>
                </a:moveTo>
                <a:lnTo>
                  <a:pt x="6319281" y="0"/>
                </a:lnTo>
                <a:lnTo>
                  <a:pt x="6319281" y="5192158"/>
                </a:lnTo>
                <a:lnTo>
                  <a:pt x="0" y="5192158"/>
                </a:lnTo>
                <a:lnTo>
                  <a:pt x="0" y="0"/>
                </a:lnTo>
                <a:close/>
              </a:path>
            </a:pathLst>
          </a:custGeom>
          <a:blipFill>
            <a:blip r:embed="rId6"/>
            <a:stretch>
              <a:fillRect l="0" t="0" r="0" b="0"/>
            </a:stretch>
          </a:blipFill>
        </p:spPr>
      </p:sp>
      <p:grpSp>
        <p:nvGrpSpPr>
          <p:cNvPr name="Group 9" id="9"/>
          <p:cNvGrpSpPr/>
          <p:nvPr/>
        </p:nvGrpSpPr>
        <p:grpSpPr>
          <a:xfrm rot="0">
            <a:off x="12420039" y="8004386"/>
            <a:ext cx="3633000" cy="767742"/>
            <a:chOff x="0" y="0"/>
            <a:chExt cx="4844000" cy="1023657"/>
          </a:xfrm>
        </p:grpSpPr>
        <p:sp>
          <p:nvSpPr>
            <p:cNvPr name="TextBox 10" id="10"/>
            <p:cNvSpPr txBox="true"/>
            <p:nvPr/>
          </p:nvSpPr>
          <p:spPr>
            <a:xfrm rot="0">
              <a:off x="0" y="76200"/>
              <a:ext cx="4210474" cy="435628"/>
            </a:xfrm>
            <a:prstGeom prst="rect">
              <a:avLst/>
            </a:prstGeom>
          </p:spPr>
          <p:txBody>
            <a:bodyPr anchor="t" rtlCol="false" tIns="0" lIns="0" bIns="0" rIns="0">
              <a:spAutoFit/>
            </a:bodyPr>
            <a:lstStyle/>
            <a:p>
              <a:pPr algn="r">
                <a:lnSpc>
                  <a:spcPts val="2250"/>
                </a:lnSpc>
              </a:pPr>
              <a:r>
                <a:rPr lang="en-US" sz="2587" spc="-126">
                  <a:solidFill>
                    <a:srgbClr val="000000"/>
                  </a:solidFill>
                  <a:latin typeface="TT Interphases"/>
                  <a:ea typeface="TT Interphases"/>
                  <a:cs typeface="TT Interphases"/>
                  <a:sym typeface="TT Interphases"/>
                </a:rPr>
                <a:t>Bharti Manjhi       </a:t>
              </a:r>
            </a:p>
          </p:txBody>
        </p:sp>
        <p:sp>
          <p:nvSpPr>
            <p:cNvPr name="TextBox 11" id="11"/>
            <p:cNvSpPr txBox="true"/>
            <p:nvPr/>
          </p:nvSpPr>
          <p:spPr>
            <a:xfrm rot="0">
              <a:off x="0" y="588028"/>
              <a:ext cx="4844000" cy="435628"/>
            </a:xfrm>
            <a:prstGeom prst="rect">
              <a:avLst/>
            </a:prstGeom>
          </p:spPr>
          <p:txBody>
            <a:bodyPr anchor="t" rtlCol="false" tIns="0" lIns="0" bIns="0" rIns="0">
              <a:spAutoFit/>
            </a:bodyPr>
            <a:lstStyle/>
            <a:p>
              <a:pPr algn="r">
                <a:lnSpc>
                  <a:spcPts val="2250"/>
                </a:lnSpc>
              </a:pPr>
              <a:r>
                <a:rPr lang="en-US" sz="2587" spc="-126">
                  <a:solidFill>
                    <a:srgbClr val="000000"/>
                  </a:solidFill>
                  <a:latin typeface="TT Interphases"/>
                  <a:ea typeface="TT Interphases"/>
                  <a:cs typeface="TT Interphases"/>
                  <a:sym typeface="TT Interphases"/>
                </a:rPr>
                <a:t>bhartimanjhi54@gmail.com</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023" y="4932817"/>
            <a:ext cx="6362030" cy="5354183"/>
          </a:xfrm>
          <a:custGeom>
            <a:avLst/>
            <a:gdLst/>
            <a:ahLst/>
            <a:cxnLst/>
            <a:rect r="r" b="b" t="t" l="l"/>
            <a:pathLst>
              <a:path h="5354183" w="6362030">
                <a:moveTo>
                  <a:pt x="0" y="0"/>
                </a:moveTo>
                <a:lnTo>
                  <a:pt x="6362030" y="0"/>
                </a:lnTo>
                <a:lnTo>
                  <a:pt x="6362030" y="5354183"/>
                </a:lnTo>
                <a:lnTo>
                  <a:pt x="0" y="5354183"/>
                </a:lnTo>
                <a:lnTo>
                  <a:pt x="0" y="0"/>
                </a:lnTo>
                <a:close/>
              </a:path>
            </a:pathLst>
          </a:custGeom>
          <a:blipFill>
            <a:blip r:embed="rId2"/>
            <a:stretch>
              <a:fillRect l="0" t="0" r="0" b="0"/>
            </a:stretch>
          </a:blipFill>
        </p:spPr>
      </p:sp>
      <p:sp>
        <p:nvSpPr>
          <p:cNvPr name="TextBox 3" id="3"/>
          <p:cNvSpPr txBox="true"/>
          <p:nvPr/>
        </p:nvSpPr>
        <p:spPr>
          <a:xfrm rot="0">
            <a:off x="7835854" y="1548698"/>
            <a:ext cx="7777132" cy="727710"/>
          </a:xfrm>
          <a:prstGeom prst="rect">
            <a:avLst/>
          </a:prstGeom>
        </p:spPr>
        <p:txBody>
          <a:bodyPr anchor="t" rtlCol="false" tIns="0" lIns="0" bIns="0" rIns="0">
            <a:spAutoFit/>
          </a:bodyPr>
          <a:lstStyle/>
          <a:p>
            <a:pPr algn="l">
              <a:lnSpc>
                <a:spcPts val="5220"/>
              </a:lnSpc>
            </a:pPr>
            <a:r>
              <a:rPr lang="en-US" sz="6000" spc="-294">
                <a:solidFill>
                  <a:srgbClr val="000000"/>
                </a:solidFill>
                <a:latin typeface="TT Interphases"/>
                <a:ea typeface="TT Interphases"/>
                <a:cs typeface="TT Interphases"/>
                <a:sym typeface="TT Interphases"/>
              </a:rPr>
              <a:t>What the project is about </a:t>
            </a:r>
          </a:p>
        </p:txBody>
      </p:sp>
      <p:sp>
        <p:nvSpPr>
          <p:cNvPr name="TextBox 4" id="4"/>
          <p:cNvSpPr txBox="true"/>
          <p:nvPr/>
        </p:nvSpPr>
        <p:spPr>
          <a:xfrm rot="0">
            <a:off x="7835854" y="2604905"/>
            <a:ext cx="9596715" cy="3811749"/>
          </a:xfrm>
          <a:prstGeom prst="rect">
            <a:avLst/>
          </a:prstGeom>
        </p:spPr>
        <p:txBody>
          <a:bodyPr anchor="t" rtlCol="false" tIns="0" lIns="0" bIns="0" rIns="0">
            <a:spAutoFit/>
          </a:bodyPr>
          <a:lstStyle/>
          <a:p>
            <a:pPr algn="l">
              <a:lnSpc>
                <a:spcPts val="3426"/>
              </a:lnSpc>
            </a:pPr>
            <a:r>
              <a:rPr lang="en-US" sz="2447" spc="-119">
                <a:solidFill>
                  <a:srgbClr val="000000"/>
                </a:solidFill>
                <a:latin typeface="TT Interphases"/>
                <a:ea typeface="TT Interphases"/>
                <a:cs typeface="TT Interphases"/>
                <a:sym typeface="TT Interphases"/>
              </a:rPr>
              <a:t>The Online Food Delivery Data Analysis Project aims to analyze and visualize customer, restaurant, and order data from an online food delivery platform using MySQL and Power BI.</a:t>
            </a:r>
          </a:p>
          <a:p>
            <a:pPr algn="l">
              <a:lnSpc>
                <a:spcPts val="3426"/>
              </a:lnSpc>
            </a:pPr>
            <a:r>
              <a:rPr lang="en-US" sz="2447" spc="-119">
                <a:solidFill>
                  <a:srgbClr val="000000"/>
                </a:solidFill>
                <a:latin typeface="TT Interphases"/>
                <a:ea typeface="TT Interphases"/>
                <a:cs typeface="TT Interphases"/>
                <a:sym typeface="TT Interphases"/>
              </a:rPr>
              <a:t>The project helps in understanding:</a:t>
            </a:r>
          </a:p>
          <a:p>
            <a:pPr algn="l" marL="528462" indent="-264231" lvl="1">
              <a:lnSpc>
                <a:spcPts val="3426"/>
              </a:lnSpc>
              <a:buFont typeface="Arial"/>
              <a:buChar char="•"/>
            </a:pPr>
            <a:r>
              <a:rPr lang="en-US" sz="2447" spc="-119">
                <a:solidFill>
                  <a:srgbClr val="000000"/>
                </a:solidFill>
                <a:latin typeface="TT Interphases"/>
                <a:ea typeface="TT Interphases"/>
                <a:cs typeface="TT Interphases"/>
                <a:sym typeface="TT Interphases"/>
              </a:rPr>
              <a:t>Customer behavior and spending patterns,</a:t>
            </a:r>
          </a:p>
          <a:p>
            <a:pPr algn="l" marL="528462" indent="-264231" lvl="1">
              <a:lnSpc>
                <a:spcPts val="3426"/>
              </a:lnSpc>
              <a:buFont typeface="Arial"/>
              <a:buChar char="•"/>
            </a:pPr>
            <a:r>
              <a:rPr lang="en-US" sz="2447" spc="-119">
                <a:solidFill>
                  <a:srgbClr val="000000"/>
                </a:solidFill>
                <a:latin typeface="TT Interphases"/>
                <a:ea typeface="TT Interphases"/>
                <a:cs typeface="TT Interphases"/>
                <a:sym typeface="TT Interphases"/>
              </a:rPr>
              <a:t>Restaurant performance and revenue generation,</a:t>
            </a:r>
          </a:p>
          <a:p>
            <a:pPr algn="l" marL="528462" indent="-264231" lvl="1">
              <a:lnSpc>
                <a:spcPts val="3426"/>
              </a:lnSpc>
              <a:buFont typeface="Arial"/>
              <a:buChar char="•"/>
            </a:pPr>
            <a:r>
              <a:rPr lang="en-US" sz="2447" spc="-119">
                <a:solidFill>
                  <a:srgbClr val="000000"/>
                </a:solidFill>
                <a:latin typeface="TT Interphases"/>
                <a:ea typeface="TT Interphases"/>
                <a:cs typeface="TT Interphases"/>
                <a:sym typeface="TT Interphases"/>
              </a:rPr>
              <a:t>Order trends across different cities,</a:t>
            </a:r>
          </a:p>
          <a:p>
            <a:pPr algn="l" marL="528462" indent="-264231" lvl="1">
              <a:lnSpc>
                <a:spcPts val="3426"/>
              </a:lnSpc>
              <a:buFont typeface="Arial"/>
              <a:buChar char="•"/>
            </a:pPr>
            <a:r>
              <a:rPr lang="en-US" sz="2447" spc="-119">
                <a:solidFill>
                  <a:srgbClr val="000000"/>
                </a:solidFill>
                <a:latin typeface="TT Interphases"/>
                <a:ea typeface="TT Interphases"/>
                <a:cs typeface="TT Interphases"/>
                <a:sym typeface="TT Interphases"/>
              </a:rPr>
              <a:t>Price and demand of food items</a:t>
            </a:r>
          </a:p>
          <a:p>
            <a:pPr algn="l">
              <a:lnSpc>
                <a:spcPts val="342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57400" y="3019899"/>
            <a:ext cx="10960154" cy="4964761"/>
          </a:xfrm>
          <a:prstGeom prst="rect">
            <a:avLst/>
          </a:prstGeom>
        </p:spPr>
        <p:txBody>
          <a:bodyPr anchor="t" rtlCol="false" tIns="0" lIns="0" bIns="0" rIns="0">
            <a:spAutoFit/>
          </a:bodyPr>
          <a:lstStyle/>
          <a:p>
            <a:pPr algn="l">
              <a:lnSpc>
                <a:spcPts val="2866"/>
              </a:lnSpc>
            </a:pPr>
            <a:r>
              <a:rPr lang="en-US" sz="2047" spc="-100">
                <a:solidFill>
                  <a:srgbClr val="000000"/>
                </a:solidFill>
                <a:latin typeface="TT Interphases"/>
                <a:ea typeface="TT Interphases"/>
                <a:cs typeface="TT Interphases"/>
                <a:sym typeface="TT Interphases"/>
              </a:rPr>
              <a:t>The online food industry handles large volumes of data daily, making it difficult to manually identify, This project solves these problems by building an end-to-end analytical pipeline using SQL for data extraction and Power BI for visualization:</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Which restaurants generate the most revenue,</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Who are the top customers,</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What are the most frequently ordered or expensive items,</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How city-based demand varies (Metro vs Non-Metro), and</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Average order values by different cities.</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Top Spending customers</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Top High vs low order values.</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Customers by rewarded tiers.</a:t>
            </a:r>
          </a:p>
          <a:p>
            <a:pPr algn="l" marL="442041" indent="-221020" lvl="1">
              <a:lnSpc>
                <a:spcPts val="2866"/>
              </a:lnSpc>
              <a:buFont typeface="Arial"/>
              <a:buChar char="•"/>
            </a:pPr>
            <a:r>
              <a:rPr lang="en-US" sz="2047" spc="-100">
                <a:solidFill>
                  <a:srgbClr val="000000"/>
                </a:solidFill>
                <a:latin typeface="TT Interphases"/>
                <a:ea typeface="TT Interphases"/>
                <a:cs typeface="TT Interphases"/>
                <a:sym typeface="TT Interphases"/>
              </a:rPr>
              <a:t>Top restaurants by city.</a:t>
            </a:r>
          </a:p>
          <a:p>
            <a:pPr algn="l">
              <a:lnSpc>
                <a:spcPts val="2866"/>
              </a:lnSpc>
            </a:pPr>
          </a:p>
          <a:p>
            <a:pPr algn="l">
              <a:lnSpc>
                <a:spcPts val="2866"/>
              </a:lnSpc>
            </a:pPr>
          </a:p>
        </p:txBody>
      </p:sp>
      <p:sp>
        <p:nvSpPr>
          <p:cNvPr name="Freeform 3" id="3"/>
          <p:cNvSpPr/>
          <p:nvPr/>
        </p:nvSpPr>
        <p:spPr>
          <a:xfrm flipH="false" flipV="false" rot="0">
            <a:off x="12939707" y="5143500"/>
            <a:ext cx="5348293" cy="5223082"/>
          </a:xfrm>
          <a:custGeom>
            <a:avLst/>
            <a:gdLst/>
            <a:ahLst/>
            <a:cxnLst/>
            <a:rect r="r" b="b" t="t" l="l"/>
            <a:pathLst>
              <a:path h="5223082" w="5348293">
                <a:moveTo>
                  <a:pt x="0" y="0"/>
                </a:moveTo>
                <a:lnTo>
                  <a:pt x="5348293" y="0"/>
                </a:lnTo>
                <a:lnTo>
                  <a:pt x="5348293" y="5223082"/>
                </a:lnTo>
                <a:lnTo>
                  <a:pt x="0" y="5223082"/>
                </a:lnTo>
                <a:lnTo>
                  <a:pt x="0" y="0"/>
                </a:lnTo>
                <a:close/>
              </a:path>
            </a:pathLst>
          </a:custGeom>
          <a:blipFill>
            <a:blip r:embed="rId2"/>
            <a:stretch>
              <a:fillRect l="0" t="0" r="0" b="0"/>
            </a:stretch>
          </a:blipFill>
        </p:spPr>
      </p:sp>
      <p:sp>
        <p:nvSpPr>
          <p:cNvPr name="TextBox 4" id="4"/>
          <p:cNvSpPr txBox="true"/>
          <p:nvPr/>
        </p:nvSpPr>
        <p:spPr>
          <a:xfrm rot="0">
            <a:off x="2057400" y="1849121"/>
            <a:ext cx="10918030"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Problem Statements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6056" y="2898645"/>
            <a:ext cx="6730928" cy="5751884"/>
          </a:xfrm>
          <a:custGeom>
            <a:avLst/>
            <a:gdLst/>
            <a:ahLst/>
            <a:cxnLst/>
            <a:rect r="r" b="b" t="t" l="l"/>
            <a:pathLst>
              <a:path h="5751884" w="6730928">
                <a:moveTo>
                  <a:pt x="0" y="0"/>
                </a:moveTo>
                <a:lnTo>
                  <a:pt x="6730928" y="0"/>
                </a:lnTo>
                <a:lnTo>
                  <a:pt x="6730928" y="5751884"/>
                </a:lnTo>
                <a:lnTo>
                  <a:pt x="0" y="57518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8655" y="3506416"/>
            <a:ext cx="9720645" cy="5577220"/>
          </a:xfrm>
          <a:custGeom>
            <a:avLst/>
            <a:gdLst/>
            <a:ahLst/>
            <a:cxnLst/>
            <a:rect r="r" b="b" t="t" l="l"/>
            <a:pathLst>
              <a:path h="5577220" w="9720645">
                <a:moveTo>
                  <a:pt x="0" y="0"/>
                </a:moveTo>
                <a:lnTo>
                  <a:pt x="9720645" y="0"/>
                </a:lnTo>
                <a:lnTo>
                  <a:pt x="9720645" y="5577220"/>
                </a:lnTo>
                <a:lnTo>
                  <a:pt x="0" y="5577220"/>
                </a:lnTo>
                <a:lnTo>
                  <a:pt x="0" y="0"/>
                </a:lnTo>
                <a:close/>
              </a:path>
            </a:pathLst>
          </a:custGeom>
          <a:blipFill>
            <a:blip r:embed="rId4"/>
            <a:stretch>
              <a:fillRect l="0" t="0" r="0" b="0"/>
            </a:stretch>
          </a:blipFill>
        </p:spPr>
      </p:sp>
      <p:sp>
        <p:nvSpPr>
          <p:cNvPr name="TextBox 4" id="4"/>
          <p:cNvSpPr txBox="true"/>
          <p:nvPr/>
        </p:nvSpPr>
        <p:spPr>
          <a:xfrm rot="0">
            <a:off x="7246984" y="1293543"/>
            <a:ext cx="9614774"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 Dataset &amp; Schema</a:t>
            </a:r>
          </a:p>
        </p:txBody>
      </p:sp>
      <p:sp>
        <p:nvSpPr>
          <p:cNvPr name="TextBox 5" id="5"/>
          <p:cNvSpPr txBox="true"/>
          <p:nvPr/>
        </p:nvSpPr>
        <p:spPr>
          <a:xfrm rot="0">
            <a:off x="7072605" y="2300528"/>
            <a:ext cx="10186695" cy="1480185"/>
          </a:xfrm>
          <a:prstGeom prst="rect">
            <a:avLst/>
          </a:prstGeom>
        </p:spPr>
        <p:txBody>
          <a:bodyPr anchor="t" rtlCol="false" tIns="0" lIns="0" bIns="0" rIns="0">
            <a:spAutoFit/>
          </a:bodyPr>
          <a:lstStyle/>
          <a:p>
            <a:pPr algn="ctr">
              <a:lnSpc>
                <a:spcPts val="2940"/>
              </a:lnSpc>
              <a:spcBef>
                <a:spcPct val="0"/>
              </a:spcBef>
            </a:pPr>
            <a:r>
              <a:rPr lang="en-US" sz="2100" spc="-102">
                <a:solidFill>
                  <a:srgbClr val="000000"/>
                </a:solidFill>
                <a:latin typeface="TT Interphases"/>
                <a:ea typeface="TT Interphases"/>
                <a:cs typeface="TT Interphases"/>
                <a:sym typeface="TT Interphases"/>
              </a:rPr>
              <a:t>The database schema st</a:t>
            </a:r>
            <a:r>
              <a:rPr lang="en-US" sz="2100" spc="-102">
                <a:solidFill>
                  <a:srgbClr val="000000"/>
                </a:solidFill>
                <a:latin typeface="TT Interphases"/>
                <a:ea typeface="TT Interphases"/>
                <a:cs typeface="TT Interphases"/>
                <a:sym typeface="TT Interphases"/>
              </a:rPr>
              <a:t>ores online food delivery data with five tables — customers, restaurant, orders, menu_items, and order_details — linked through customer and restaurant IDs to track orders, items, and spending.</a:t>
            </a:r>
          </a:p>
          <a:p>
            <a:pPr algn="ctr">
              <a:lnSpc>
                <a:spcPts val="294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6289" y="2331354"/>
            <a:ext cx="9038889" cy="4666327"/>
          </a:xfrm>
          <a:custGeom>
            <a:avLst/>
            <a:gdLst/>
            <a:ahLst/>
            <a:cxnLst/>
            <a:rect r="r" b="b" t="t" l="l"/>
            <a:pathLst>
              <a:path h="4666327" w="9038889">
                <a:moveTo>
                  <a:pt x="0" y="0"/>
                </a:moveTo>
                <a:lnTo>
                  <a:pt x="9038889" y="0"/>
                </a:lnTo>
                <a:lnTo>
                  <a:pt x="9038889" y="4666327"/>
                </a:lnTo>
                <a:lnTo>
                  <a:pt x="0" y="4666327"/>
                </a:lnTo>
                <a:lnTo>
                  <a:pt x="0" y="0"/>
                </a:lnTo>
                <a:close/>
              </a:path>
            </a:pathLst>
          </a:custGeom>
          <a:blipFill>
            <a:blip r:embed="rId2"/>
            <a:stretch>
              <a:fillRect l="0" t="0" r="0" b="0"/>
            </a:stretch>
          </a:blipFill>
        </p:spPr>
      </p:sp>
      <p:sp>
        <p:nvSpPr>
          <p:cNvPr name="Freeform 3" id="3"/>
          <p:cNvSpPr/>
          <p:nvPr/>
        </p:nvSpPr>
        <p:spPr>
          <a:xfrm flipH="false" flipV="false" rot="0">
            <a:off x="10594457" y="6675894"/>
            <a:ext cx="4199337" cy="3196659"/>
          </a:xfrm>
          <a:custGeom>
            <a:avLst/>
            <a:gdLst/>
            <a:ahLst/>
            <a:cxnLst/>
            <a:rect r="r" b="b" t="t" l="l"/>
            <a:pathLst>
              <a:path h="3196659" w="4199337">
                <a:moveTo>
                  <a:pt x="0" y="0"/>
                </a:moveTo>
                <a:lnTo>
                  <a:pt x="4199337" y="0"/>
                </a:lnTo>
                <a:lnTo>
                  <a:pt x="4199337" y="3196659"/>
                </a:lnTo>
                <a:lnTo>
                  <a:pt x="0" y="3196659"/>
                </a:lnTo>
                <a:lnTo>
                  <a:pt x="0" y="0"/>
                </a:lnTo>
                <a:close/>
              </a:path>
            </a:pathLst>
          </a:custGeom>
          <a:blipFill>
            <a:blip r:embed="rId3"/>
            <a:stretch>
              <a:fillRect l="0" t="0" r="0" b="0"/>
            </a:stretch>
          </a:blipFill>
        </p:spPr>
      </p:sp>
      <p:sp>
        <p:nvSpPr>
          <p:cNvPr name="Freeform 4" id="4"/>
          <p:cNvSpPr/>
          <p:nvPr/>
        </p:nvSpPr>
        <p:spPr>
          <a:xfrm flipH="false" flipV="false" rot="0">
            <a:off x="10523967" y="2937065"/>
            <a:ext cx="7168927" cy="3454905"/>
          </a:xfrm>
          <a:custGeom>
            <a:avLst/>
            <a:gdLst/>
            <a:ahLst/>
            <a:cxnLst/>
            <a:rect r="r" b="b" t="t" l="l"/>
            <a:pathLst>
              <a:path h="3454905" w="7168927">
                <a:moveTo>
                  <a:pt x="0" y="0"/>
                </a:moveTo>
                <a:lnTo>
                  <a:pt x="7168927" y="0"/>
                </a:lnTo>
                <a:lnTo>
                  <a:pt x="7168927" y="3454905"/>
                </a:lnTo>
                <a:lnTo>
                  <a:pt x="0" y="3454905"/>
                </a:lnTo>
                <a:lnTo>
                  <a:pt x="0" y="0"/>
                </a:lnTo>
                <a:close/>
              </a:path>
            </a:pathLst>
          </a:custGeom>
          <a:blipFill>
            <a:blip r:embed="rId4"/>
            <a:stretch>
              <a:fillRect l="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10695245" y="2312304"/>
            <a:ext cx="3997762" cy="479502"/>
          </a:xfrm>
          <a:prstGeom prst="rect">
            <a:avLst/>
          </a:prstGeom>
        </p:spPr>
        <p:txBody>
          <a:bodyPr anchor="t" rtlCol="false" tIns="0" lIns="0" bIns="0" rIns="0">
            <a:spAutoFit/>
          </a:bodyPr>
          <a:lstStyle/>
          <a:p>
            <a:pPr algn="ctr">
              <a:lnSpc>
                <a:spcPts val="3120"/>
              </a:lnSpc>
              <a:spcBef>
                <a:spcPct val="0"/>
              </a:spcBef>
            </a:pPr>
            <a:r>
              <a:rPr lang="en-US" b="true" sz="3058">
                <a:solidFill>
                  <a:srgbClr val="000000"/>
                </a:solidFill>
                <a:latin typeface="Times New Roman MT Bold"/>
                <a:ea typeface="Times New Roman MT Bold"/>
                <a:cs typeface="Times New Roman MT Bold"/>
                <a:sym typeface="Times New Roman MT Bold"/>
              </a:rPr>
              <a:t>Q1: Most Ordered Items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4326" y="2594727"/>
            <a:ext cx="9579335" cy="5619610"/>
          </a:xfrm>
          <a:custGeom>
            <a:avLst/>
            <a:gdLst/>
            <a:ahLst/>
            <a:cxnLst/>
            <a:rect r="r" b="b" t="t" l="l"/>
            <a:pathLst>
              <a:path h="5619610" w="9579335">
                <a:moveTo>
                  <a:pt x="0" y="0"/>
                </a:moveTo>
                <a:lnTo>
                  <a:pt x="9579335" y="0"/>
                </a:lnTo>
                <a:lnTo>
                  <a:pt x="9579335" y="5619610"/>
                </a:lnTo>
                <a:lnTo>
                  <a:pt x="0" y="5619610"/>
                </a:lnTo>
                <a:lnTo>
                  <a:pt x="0" y="0"/>
                </a:lnTo>
                <a:close/>
              </a:path>
            </a:pathLst>
          </a:custGeom>
          <a:blipFill>
            <a:blip r:embed="rId2"/>
            <a:stretch>
              <a:fillRect l="-8164" t="0" r="-5195" b="0"/>
            </a:stretch>
          </a:blipFill>
        </p:spPr>
      </p:sp>
      <p:sp>
        <p:nvSpPr>
          <p:cNvPr name="Freeform 3" id="3"/>
          <p:cNvSpPr/>
          <p:nvPr/>
        </p:nvSpPr>
        <p:spPr>
          <a:xfrm flipH="false" flipV="false" rot="0">
            <a:off x="10594457" y="2900310"/>
            <a:ext cx="7154187" cy="3590905"/>
          </a:xfrm>
          <a:custGeom>
            <a:avLst/>
            <a:gdLst/>
            <a:ahLst/>
            <a:cxnLst/>
            <a:rect r="r" b="b" t="t" l="l"/>
            <a:pathLst>
              <a:path h="3590905" w="7154187">
                <a:moveTo>
                  <a:pt x="0" y="0"/>
                </a:moveTo>
                <a:lnTo>
                  <a:pt x="7154187" y="0"/>
                </a:lnTo>
                <a:lnTo>
                  <a:pt x="7154187" y="3590905"/>
                </a:lnTo>
                <a:lnTo>
                  <a:pt x="0" y="3590905"/>
                </a:lnTo>
                <a:lnTo>
                  <a:pt x="0" y="0"/>
                </a:lnTo>
                <a:close/>
              </a:path>
            </a:pathLst>
          </a:custGeom>
          <a:blipFill>
            <a:blip r:embed="rId3"/>
            <a:stretch>
              <a:fillRect l="0" t="0" r="0" b="0"/>
            </a:stretch>
          </a:blipFill>
        </p:spPr>
      </p:sp>
      <p:sp>
        <p:nvSpPr>
          <p:cNvPr name="Freeform 4" id="4"/>
          <p:cNvSpPr/>
          <p:nvPr/>
        </p:nvSpPr>
        <p:spPr>
          <a:xfrm flipH="false" flipV="false" rot="0">
            <a:off x="10558285" y="6454814"/>
            <a:ext cx="6701015" cy="2803486"/>
          </a:xfrm>
          <a:custGeom>
            <a:avLst/>
            <a:gdLst/>
            <a:ahLst/>
            <a:cxnLst/>
            <a:rect r="r" b="b" t="t" l="l"/>
            <a:pathLst>
              <a:path h="2803486" w="6701015">
                <a:moveTo>
                  <a:pt x="0" y="0"/>
                </a:moveTo>
                <a:lnTo>
                  <a:pt x="6701015" y="0"/>
                </a:lnTo>
                <a:lnTo>
                  <a:pt x="6701015" y="2803486"/>
                </a:lnTo>
                <a:lnTo>
                  <a:pt x="0" y="2803486"/>
                </a:lnTo>
                <a:lnTo>
                  <a:pt x="0" y="0"/>
                </a:lnTo>
                <a:close/>
              </a:path>
            </a:pathLst>
          </a:custGeom>
          <a:blipFill>
            <a:blip r:embed="rId4"/>
            <a:stretch>
              <a:fillRect l="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10548760" y="2331354"/>
            <a:ext cx="6673514" cy="384277"/>
          </a:xfrm>
          <a:prstGeom prst="rect">
            <a:avLst/>
          </a:prstGeom>
        </p:spPr>
        <p:txBody>
          <a:bodyPr anchor="t" rtlCol="false" tIns="0" lIns="0" bIns="0" rIns="0">
            <a:spAutoFit/>
          </a:bodyPr>
          <a:lstStyle/>
          <a:p>
            <a:pPr algn="ctr">
              <a:lnSpc>
                <a:spcPts val="2573"/>
              </a:lnSpc>
              <a:spcBef>
                <a:spcPct val="0"/>
              </a:spcBef>
            </a:pPr>
            <a:r>
              <a:rPr lang="en-US" b="true" sz="2523">
                <a:solidFill>
                  <a:srgbClr val="000000"/>
                </a:solidFill>
                <a:latin typeface="Times New Roman MT Bold"/>
                <a:ea typeface="Times New Roman MT Bold"/>
                <a:cs typeface="Times New Roman MT Bold"/>
                <a:sym typeface="Times New Roman MT Bold"/>
              </a:rPr>
              <a:t>Q2: Top 5 Customers based on total orders placed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87438" y="2715631"/>
            <a:ext cx="7307824" cy="4203373"/>
          </a:xfrm>
          <a:custGeom>
            <a:avLst/>
            <a:gdLst/>
            <a:ahLst/>
            <a:cxnLst/>
            <a:rect r="r" b="b" t="t" l="l"/>
            <a:pathLst>
              <a:path h="4203373" w="7307824">
                <a:moveTo>
                  <a:pt x="0" y="0"/>
                </a:moveTo>
                <a:lnTo>
                  <a:pt x="7307825" y="0"/>
                </a:lnTo>
                <a:lnTo>
                  <a:pt x="7307825" y="4203373"/>
                </a:lnTo>
                <a:lnTo>
                  <a:pt x="0" y="4203373"/>
                </a:lnTo>
                <a:lnTo>
                  <a:pt x="0" y="0"/>
                </a:lnTo>
                <a:close/>
              </a:path>
            </a:pathLst>
          </a:custGeom>
          <a:blipFill>
            <a:blip r:embed="rId2"/>
            <a:stretch>
              <a:fillRect l="0" t="0" r="0" b="0"/>
            </a:stretch>
          </a:blipFill>
        </p:spPr>
      </p:sp>
      <p:sp>
        <p:nvSpPr>
          <p:cNvPr name="Freeform 3" id="3"/>
          <p:cNvSpPr/>
          <p:nvPr/>
        </p:nvSpPr>
        <p:spPr>
          <a:xfrm flipH="false" flipV="false" rot="0">
            <a:off x="10665725" y="6919004"/>
            <a:ext cx="6442750" cy="3072107"/>
          </a:xfrm>
          <a:custGeom>
            <a:avLst/>
            <a:gdLst/>
            <a:ahLst/>
            <a:cxnLst/>
            <a:rect r="r" b="b" t="t" l="l"/>
            <a:pathLst>
              <a:path h="3072107" w="6442750">
                <a:moveTo>
                  <a:pt x="0" y="0"/>
                </a:moveTo>
                <a:lnTo>
                  <a:pt x="6442750" y="0"/>
                </a:lnTo>
                <a:lnTo>
                  <a:pt x="6442750" y="3072106"/>
                </a:lnTo>
                <a:lnTo>
                  <a:pt x="0" y="3072106"/>
                </a:lnTo>
                <a:lnTo>
                  <a:pt x="0" y="0"/>
                </a:lnTo>
                <a:close/>
              </a:path>
            </a:pathLst>
          </a:custGeom>
          <a:blipFill>
            <a:blip r:embed="rId3"/>
            <a:stretch>
              <a:fillRect l="0" t="0" r="0" b="-67898"/>
            </a:stretch>
          </a:blipFill>
        </p:spPr>
      </p:sp>
      <p:sp>
        <p:nvSpPr>
          <p:cNvPr name="Freeform 4" id="4"/>
          <p:cNvSpPr/>
          <p:nvPr/>
        </p:nvSpPr>
        <p:spPr>
          <a:xfrm flipH="false" flipV="false" rot="0">
            <a:off x="854337" y="1760260"/>
            <a:ext cx="9533102" cy="5430419"/>
          </a:xfrm>
          <a:custGeom>
            <a:avLst/>
            <a:gdLst/>
            <a:ahLst/>
            <a:cxnLst/>
            <a:rect r="r" b="b" t="t" l="l"/>
            <a:pathLst>
              <a:path h="5430419" w="9533102">
                <a:moveTo>
                  <a:pt x="0" y="0"/>
                </a:moveTo>
                <a:lnTo>
                  <a:pt x="9533101" y="0"/>
                </a:lnTo>
                <a:lnTo>
                  <a:pt x="9533101" y="5430419"/>
                </a:lnTo>
                <a:lnTo>
                  <a:pt x="0" y="5430419"/>
                </a:lnTo>
                <a:lnTo>
                  <a:pt x="0" y="0"/>
                </a:lnTo>
                <a:close/>
              </a:path>
            </a:pathLst>
          </a:custGeom>
          <a:blipFill>
            <a:blip r:embed="rId4"/>
            <a:stretch>
              <a:fillRect l="-1336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10665725" y="2331354"/>
            <a:ext cx="6530977" cy="384277"/>
          </a:xfrm>
          <a:prstGeom prst="rect">
            <a:avLst/>
          </a:prstGeom>
        </p:spPr>
        <p:txBody>
          <a:bodyPr anchor="t" rtlCol="false" tIns="0" lIns="0" bIns="0" rIns="0">
            <a:spAutoFit/>
          </a:bodyPr>
          <a:lstStyle/>
          <a:p>
            <a:pPr algn="ctr">
              <a:lnSpc>
                <a:spcPts val="2573"/>
              </a:lnSpc>
              <a:spcBef>
                <a:spcPct val="0"/>
              </a:spcBef>
            </a:pPr>
            <a:r>
              <a:rPr lang="en-US" b="true" sz="2523">
                <a:solidFill>
                  <a:srgbClr val="000000"/>
                </a:solidFill>
                <a:latin typeface="Times New Roman MT Bold"/>
                <a:ea typeface="Times New Roman MT Bold"/>
                <a:cs typeface="Times New Roman MT Bold"/>
                <a:sym typeface="Times New Roman MT Bold"/>
              </a:rPr>
              <a:t>Q3: customer Reward Tiers (Gold/Silver/Bronze)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665725" y="2453573"/>
            <a:ext cx="4461714" cy="5058028"/>
          </a:xfrm>
          <a:custGeom>
            <a:avLst/>
            <a:gdLst/>
            <a:ahLst/>
            <a:cxnLst/>
            <a:rect r="r" b="b" t="t" l="l"/>
            <a:pathLst>
              <a:path h="5058028" w="4461714">
                <a:moveTo>
                  <a:pt x="0" y="0"/>
                </a:moveTo>
                <a:lnTo>
                  <a:pt x="4461714" y="0"/>
                </a:lnTo>
                <a:lnTo>
                  <a:pt x="4461714" y="5058029"/>
                </a:lnTo>
                <a:lnTo>
                  <a:pt x="0" y="5058029"/>
                </a:lnTo>
                <a:lnTo>
                  <a:pt x="0" y="0"/>
                </a:lnTo>
                <a:close/>
              </a:path>
            </a:pathLst>
          </a:custGeom>
          <a:blipFill>
            <a:blip r:embed="rId2"/>
            <a:stretch>
              <a:fillRect l="0" t="0" r="0" b="0"/>
            </a:stretch>
          </a:blipFill>
        </p:spPr>
      </p:sp>
      <p:sp>
        <p:nvSpPr>
          <p:cNvPr name="Freeform 3" id="3"/>
          <p:cNvSpPr/>
          <p:nvPr/>
        </p:nvSpPr>
        <p:spPr>
          <a:xfrm flipH="false" flipV="false" rot="0">
            <a:off x="10665725" y="7665612"/>
            <a:ext cx="4050277" cy="1441898"/>
          </a:xfrm>
          <a:custGeom>
            <a:avLst/>
            <a:gdLst/>
            <a:ahLst/>
            <a:cxnLst/>
            <a:rect r="r" b="b" t="t" l="l"/>
            <a:pathLst>
              <a:path h="1441898" w="4050277">
                <a:moveTo>
                  <a:pt x="0" y="0"/>
                </a:moveTo>
                <a:lnTo>
                  <a:pt x="4050277" y="0"/>
                </a:lnTo>
                <a:lnTo>
                  <a:pt x="4050277" y="1441898"/>
                </a:lnTo>
                <a:lnTo>
                  <a:pt x="0" y="1441898"/>
                </a:lnTo>
                <a:lnTo>
                  <a:pt x="0" y="0"/>
                </a:lnTo>
                <a:close/>
              </a:path>
            </a:pathLst>
          </a:custGeom>
          <a:blipFill>
            <a:blip r:embed="rId3"/>
            <a:stretch>
              <a:fillRect l="0" t="0" r="0" b="0"/>
            </a:stretch>
          </a:blipFill>
        </p:spPr>
      </p:sp>
      <p:sp>
        <p:nvSpPr>
          <p:cNvPr name="Freeform 4" id="4"/>
          <p:cNvSpPr/>
          <p:nvPr/>
        </p:nvSpPr>
        <p:spPr>
          <a:xfrm flipH="false" flipV="false" rot="0">
            <a:off x="1206289" y="2069296"/>
            <a:ext cx="9181150" cy="5497213"/>
          </a:xfrm>
          <a:custGeom>
            <a:avLst/>
            <a:gdLst/>
            <a:ahLst/>
            <a:cxnLst/>
            <a:rect r="r" b="b" t="t" l="l"/>
            <a:pathLst>
              <a:path h="5497213" w="9181150">
                <a:moveTo>
                  <a:pt x="0" y="0"/>
                </a:moveTo>
                <a:lnTo>
                  <a:pt x="9181149" y="0"/>
                </a:lnTo>
                <a:lnTo>
                  <a:pt x="9181149" y="5497213"/>
                </a:lnTo>
                <a:lnTo>
                  <a:pt x="0" y="5497213"/>
                </a:lnTo>
                <a:lnTo>
                  <a:pt x="0" y="0"/>
                </a:lnTo>
                <a:close/>
              </a:path>
            </a:pathLst>
          </a:custGeom>
          <a:blipFill>
            <a:blip r:embed="rId4"/>
            <a:stretch>
              <a:fillRect l="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10648799" y="1877158"/>
            <a:ext cx="4067203" cy="384277"/>
          </a:xfrm>
          <a:prstGeom prst="rect">
            <a:avLst/>
          </a:prstGeom>
        </p:spPr>
        <p:txBody>
          <a:bodyPr anchor="t" rtlCol="false" tIns="0" lIns="0" bIns="0" rIns="0">
            <a:spAutoFit/>
          </a:bodyPr>
          <a:lstStyle/>
          <a:p>
            <a:pPr algn="ctr">
              <a:lnSpc>
                <a:spcPts val="2573"/>
              </a:lnSpc>
              <a:spcBef>
                <a:spcPct val="0"/>
              </a:spcBef>
            </a:pPr>
            <a:r>
              <a:rPr lang="en-US" b="true" sz="2523">
                <a:solidFill>
                  <a:srgbClr val="000000"/>
                </a:solidFill>
                <a:latin typeface="Times New Roman MT Bold"/>
                <a:ea typeface="Times New Roman MT Bold"/>
                <a:cs typeface="Times New Roman MT Bold"/>
                <a:sym typeface="Times New Roman MT Bold"/>
              </a:rPr>
              <a:t>Q4: High &amp; Low Value orders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665725" y="2608028"/>
            <a:ext cx="7027169" cy="4419750"/>
          </a:xfrm>
          <a:custGeom>
            <a:avLst/>
            <a:gdLst/>
            <a:ahLst/>
            <a:cxnLst/>
            <a:rect r="r" b="b" t="t" l="l"/>
            <a:pathLst>
              <a:path h="4419750" w="7027169">
                <a:moveTo>
                  <a:pt x="0" y="0"/>
                </a:moveTo>
                <a:lnTo>
                  <a:pt x="7027169" y="0"/>
                </a:lnTo>
                <a:lnTo>
                  <a:pt x="7027169" y="4419750"/>
                </a:lnTo>
                <a:lnTo>
                  <a:pt x="0" y="4419750"/>
                </a:lnTo>
                <a:lnTo>
                  <a:pt x="0" y="0"/>
                </a:lnTo>
                <a:close/>
              </a:path>
            </a:pathLst>
          </a:custGeom>
          <a:blipFill>
            <a:blip r:embed="rId2"/>
            <a:stretch>
              <a:fillRect l="0" t="0" r="0" b="0"/>
            </a:stretch>
          </a:blipFill>
        </p:spPr>
      </p:sp>
      <p:sp>
        <p:nvSpPr>
          <p:cNvPr name="Freeform 3" id="3"/>
          <p:cNvSpPr/>
          <p:nvPr/>
        </p:nvSpPr>
        <p:spPr>
          <a:xfrm flipH="false" flipV="false" rot="0">
            <a:off x="1206289" y="2069296"/>
            <a:ext cx="9024640" cy="5245572"/>
          </a:xfrm>
          <a:custGeom>
            <a:avLst/>
            <a:gdLst/>
            <a:ahLst/>
            <a:cxnLst/>
            <a:rect r="r" b="b" t="t" l="l"/>
            <a:pathLst>
              <a:path h="5245572" w="9024640">
                <a:moveTo>
                  <a:pt x="0" y="0"/>
                </a:moveTo>
                <a:lnTo>
                  <a:pt x="9024639" y="0"/>
                </a:lnTo>
                <a:lnTo>
                  <a:pt x="9024639" y="5245572"/>
                </a:lnTo>
                <a:lnTo>
                  <a:pt x="0" y="5245572"/>
                </a:lnTo>
                <a:lnTo>
                  <a:pt x="0" y="0"/>
                </a:lnTo>
                <a:close/>
              </a:path>
            </a:pathLst>
          </a:custGeom>
          <a:blipFill>
            <a:blip r:embed="rId3"/>
            <a:stretch>
              <a:fillRect l="0" t="0" r="0" b="0"/>
            </a:stretch>
          </a:blipFill>
        </p:spPr>
      </p:sp>
      <p:sp>
        <p:nvSpPr>
          <p:cNvPr name="Freeform 4" id="4"/>
          <p:cNvSpPr/>
          <p:nvPr/>
        </p:nvSpPr>
        <p:spPr>
          <a:xfrm flipH="false" flipV="false" rot="0">
            <a:off x="10665725" y="7332578"/>
            <a:ext cx="6871862" cy="1539081"/>
          </a:xfrm>
          <a:custGeom>
            <a:avLst/>
            <a:gdLst/>
            <a:ahLst/>
            <a:cxnLst/>
            <a:rect r="r" b="b" t="t" l="l"/>
            <a:pathLst>
              <a:path h="1539081" w="6871862">
                <a:moveTo>
                  <a:pt x="0" y="0"/>
                </a:moveTo>
                <a:lnTo>
                  <a:pt x="6871862" y="0"/>
                </a:lnTo>
                <a:lnTo>
                  <a:pt x="6871862" y="1539081"/>
                </a:lnTo>
                <a:lnTo>
                  <a:pt x="0" y="1539081"/>
                </a:lnTo>
                <a:lnTo>
                  <a:pt x="0" y="0"/>
                </a:lnTo>
                <a:close/>
              </a:path>
            </a:pathLst>
          </a:custGeom>
          <a:blipFill>
            <a:blip r:embed="rId4"/>
            <a:stretch>
              <a:fillRect l="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10765589" y="2069296"/>
            <a:ext cx="4695894" cy="384277"/>
          </a:xfrm>
          <a:prstGeom prst="rect">
            <a:avLst/>
          </a:prstGeom>
        </p:spPr>
        <p:txBody>
          <a:bodyPr anchor="t" rtlCol="false" tIns="0" lIns="0" bIns="0" rIns="0">
            <a:spAutoFit/>
          </a:bodyPr>
          <a:lstStyle/>
          <a:p>
            <a:pPr algn="ctr">
              <a:lnSpc>
                <a:spcPts val="2573"/>
              </a:lnSpc>
              <a:spcBef>
                <a:spcPct val="0"/>
              </a:spcBef>
            </a:pPr>
            <a:r>
              <a:rPr lang="en-US" b="true" sz="2523">
                <a:solidFill>
                  <a:srgbClr val="000000"/>
                </a:solidFill>
                <a:latin typeface="Times New Roman MT Bold"/>
                <a:ea typeface="Times New Roman MT Bold"/>
                <a:cs typeface="Times New Roman MT Bold"/>
                <a:sym typeface="Times New Roman MT Bold"/>
              </a:rPr>
              <a:t>Q5: Top 3 Restaurants By Revenue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5714" y="2181958"/>
            <a:ext cx="8808286" cy="4294039"/>
          </a:xfrm>
          <a:custGeom>
            <a:avLst/>
            <a:gdLst/>
            <a:ahLst/>
            <a:cxnLst/>
            <a:rect r="r" b="b" t="t" l="l"/>
            <a:pathLst>
              <a:path h="4294039" w="8808286">
                <a:moveTo>
                  <a:pt x="0" y="0"/>
                </a:moveTo>
                <a:lnTo>
                  <a:pt x="8808286" y="0"/>
                </a:lnTo>
                <a:lnTo>
                  <a:pt x="8808286" y="4294039"/>
                </a:lnTo>
                <a:lnTo>
                  <a:pt x="0" y="4294039"/>
                </a:lnTo>
                <a:lnTo>
                  <a:pt x="0" y="0"/>
                </a:lnTo>
                <a:close/>
              </a:path>
            </a:pathLst>
          </a:custGeom>
          <a:blipFill>
            <a:blip r:embed="rId2"/>
            <a:stretch>
              <a:fillRect l="0" t="0" r="0" b="0"/>
            </a:stretch>
          </a:blipFill>
        </p:spPr>
      </p:sp>
      <p:sp>
        <p:nvSpPr>
          <p:cNvPr name="Freeform 3" id="3"/>
          <p:cNvSpPr/>
          <p:nvPr/>
        </p:nvSpPr>
        <p:spPr>
          <a:xfrm flipH="false" flipV="false" rot="0">
            <a:off x="9368792" y="2566235"/>
            <a:ext cx="8168795" cy="1986512"/>
          </a:xfrm>
          <a:custGeom>
            <a:avLst/>
            <a:gdLst/>
            <a:ahLst/>
            <a:cxnLst/>
            <a:rect r="r" b="b" t="t" l="l"/>
            <a:pathLst>
              <a:path h="1986512" w="8168795">
                <a:moveTo>
                  <a:pt x="0" y="0"/>
                </a:moveTo>
                <a:lnTo>
                  <a:pt x="8168795" y="0"/>
                </a:lnTo>
                <a:lnTo>
                  <a:pt x="8168795" y="1986511"/>
                </a:lnTo>
                <a:lnTo>
                  <a:pt x="0" y="1986511"/>
                </a:lnTo>
                <a:lnTo>
                  <a:pt x="0" y="0"/>
                </a:lnTo>
                <a:close/>
              </a:path>
            </a:pathLst>
          </a:custGeom>
          <a:blipFill>
            <a:blip r:embed="rId3"/>
            <a:stretch>
              <a:fillRect l="-1249" t="-1742" r="0" b="-10496"/>
            </a:stretch>
          </a:blipFill>
        </p:spPr>
      </p:sp>
      <p:sp>
        <p:nvSpPr>
          <p:cNvPr name="Freeform 4" id="4"/>
          <p:cNvSpPr/>
          <p:nvPr/>
        </p:nvSpPr>
        <p:spPr>
          <a:xfrm flipH="false" flipV="false" rot="0">
            <a:off x="9368792" y="4695428"/>
            <a:ext cx="4688832" cy="1780569"/>
          </a:xfrm>
          <a:custGeom>
            <a:avLst/>
            <a:gdLst/>
            <a:ahLst/>
            <a:cxnLst/>
            <a:rect r="r" b="b" t="t" l="l"/>
            <a:pathLst>
              <a:path h="1780569" w="4688832">
                <a:moveTo>
                  <a:pt x="0" y="0"/>
                </a:moveTo>
                <a:lnTo>
                  <a:pt x="4688832" y="0"/>
                </a:lnTo>
                <a:lnTo>
                  <a:pt x="4688832" y="1780569"/>
                </a:lnTo>
                <a:lnTo>
                  <a:pt x="0" y="1780569"/>
                </a:lnTo>
                <a:lnTo>
                  <a:pt x="0" y="0"/>
                </a:lnTo>
                <a:close/>
              </a:path>
            </a:pathLst>
          </a:custGeom>
          <a:blipFill>
            <a:blip r:embed="rId4"/>
            <a:stretch>
              <a:fillRect l="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9368792" y="2181958"/>
            <a:ext cx="4914780" cy="384277"/>
          </a:xfrm>
          <a:prstGeom prst="rect">
            <a:avLst/>
          </a:prstGeom>
        </p:spPr>
        <p:txBody>
          <a:bodyPr anchor="t" rtlCol="false" tIns="0" lIns="0" bIns="0" rIns="0">
            <a:spAutoFit/>
          </a:bodyPr>
          <a:lstStyle/>
          <a:p>
            <a:pPr algn="ctr">
              <a:lnSpc>
                <a:spcPts val="2573"/>
              </a:lnSpc>
              <a:spcBef>
                <a:spcPct val="0"/>
              </a:spcBef>
            </a:pPr>
            <a:r>
              <a:rPr lang="en-US" b="true" sz="2523">
                <a:solidFill>
                  <a:srgbClr val="000000"/>
                </a:solidFill>
                <a:latin typeface="Times New Roman MT Bold"/>
                <a:ea typeface="Times New Roman MT Bold"/>
                <a:cs typeface="Times New Roman MT Bold"/>
                <a:sym typeface="Times New Roman MT Bold"/>
              </a:rPr>
              <a:t>Q6: Metro vs Non Metro Customers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21272" y="2165614"/>
            <a:ext cx="8222728" cy="3844125"/>
          </a:xfrm>
          <a:custGeom>
            <a:avLst/>
            <a:gdLst/>
            <a:ahLst/>
            <a:cxnLst/>
            <a:rect r="r" b="b" t="t" l="l"/>
            <a:pathLst>
              <a:path h="3844125" w="8222728">
                <a:moveTo>
                  <a:pt x="0" y="0"/>
                </a:moveTo>
                <a:lnTo>
                  <a:pt x="8222728" y="0"/>
                </a:lnTo>
                <a:lnTo>
                  <a:pt x="8222728" y="3844125"/>
                </a:lnTo>
                <a:lnTo>
                  <a:pt x="0" y="3844125"/>
                </a:lnTo>
                <a:lnTo>
                  <a:pt x="0" y="0"/>
                </a:lnTo>
                <a:close/>
              </a:path>
            </a:pathLst>
          </a:custGeom>
          <a:blipFill>
            <a:blip r:embed="rId2"/>
            <a:stretch>
              <a:fillRect l="0" t="0" r="0" b="0"/>
            </a:stretch>
          </a:blipFill>
        </p:spPr>
      </p:sp>
      <p:sp>
        <p:nvSpPr>
          <p:cNvPr name="Freeform 3" id="3"/>
          <p:cNvSpPr/>
          <p:nvPr/>
        </p:nvSpPr>
        <p:spPr>
          <a:xfrm flipH="false" flipV="false" rot="0">
            <a:off x="10534547" y="5787305"/>
            <a:ext cx="3062777" cy="2930029"/>
          </a:xfrm>
          <a:custGeom>
            <a:avLst/>
            <a:gdLst/>
            <a:ahLst/>
            <a:cxnLst/>
            <a:rect r="r" b="b" t="t" l="l"/>
            <a:pathLst>
              <a:path h="2930029" w="3062777">
                <a:moveTo>
                  <a:pt x="0" y="0"/>
                </a:moveTo>
                <a:lnTo>
                  <a:pt x="3062777" y="0"/>
                </a:lnTo>
                <a:lnTo>
                  <a:pt x="3062777" y="2930029"/>
                </a:lnTo>
                <a:lnTo>
                  <a:pt x="0" y="2930029"/>
                </a:lnTo>
                <a:lnTo>
                  <a:pt x="0" y="0"/>
                </a:lnTo>
                <a:close/>
              </a:path>
            </a:pathLst>
          </a:custGeom>
          <a:blipFill>
            <a:blip r:embed="rId3"/>
            <a:stretch>
              <a:fillRect l="0" t="0" r="0" b="-21206"/>
            </a:stretch>
          </a:blipFill>
        </p:spPr>
      </p:sp>
      <p:sp>
        <p:nvSpPr>
          <p:cNvPr name="Freeform 4" id="4"/>
          <p:cNvSpPr/>
          <p:nvPr/>
        </p:nvSpPr>
        <p:spPr>
          <a:xfrm flipH="false" flipV="false" rot="0">
            <a:off x="10534547" y="2565545"/>
            <a:ext cx="6550802" cy="3044263"/>
          </a:xfrm>
          <a:custGeom>
            <a:avLst/>
            <a:gdLst/>
            <a:ahLst/>
            <a:cxnLst/>
            <a:rect r="r" b="b" t="t" l="l"/>
            <a:pathLst>
              <a:path h="3044263" w="6550802">
                <a:moveTo>
                  <a:pt x="0" y="0"/>
                </a:moveTo>
                <a:lnTo>
                  <a:pt x="6550802" y="0"/>
                </a:lnTo>
                <a:lnTo>
                  <a:pt x="6550802" y="3044263"/>
                </a:lnTo>
                <a:lnTo>
                  <a:pt x="0" y="3044263"/>
                </a:lnTo>
                <a:lnTo>
                  <a:pt x="0" y="0"/>
                </a:lnTo>
                <a:close/>
              </a:path>
            </a:pathLst>
          </a:custGeom>
          <a:blipFill>
            <a:blip r:embed="rId4"/>
            <a:stretch>
              <a:fillRect l="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10534547" y="2165614"/>
            <a:ext cx="4416813" cy="384277"/>
          </a:xfrm>
          <a:prstGeom prst="rect">
            <a:avLst/>
          </a:prstGeom>
        </p:spPr>
        <p:txBody>
          <a:bodyPr anchor="t" rtlCol="false" tIns="0" lIns="0" bIns="0" rIns="0">
            <a:spAutoFit/>
          </a:bodyPr>
          <a:lstStyle/>
          <a:p>
            <a:pPr algn="ctr">
              <a:lnSpc>
                <a:spcPts val="2573"/>
              </a:lnSpc>
              <a:spcBef>
                <a:spcPct val="0"/>
              </a:spcBef>
            </a:pPr>
            <a:r>
              <a:rPr lang="en-US" b="true" sz="2523">
                <a:solidFill>
                  <a:srgbClr val="000000"/>
                </a:solidFill>
                <a:latin typeface="Times New Roman MT Bold"/>
                <a:ea typeface="Times New Roman MT Bold"/>
                <a:cs typeface="Times New Roman MT Bold"/>
                <a:sym typeface="Times New Roman MT Bold"/>
              </a:rPr>
              <a:t>Q7: Average Order Value by city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87438" y="5345190"/>
            <a:ext cx="5979857" cy="1919929"/>
          </a:xfrm>
          <a:custGeom>
            <a:avLst/>
            <a:gdLst/>
            <a:ahLst/>
            <a:cxnLst/>
            <a:rect r="r" b="b" t="t" l="l"/>
            <a:pathLst>
              <a:path h="1919929" w="5979857">
                <a:moveTo>
                  <a:pt x="0" y="0"/>
                </a:moveTo>
                <a:lnTo>
                  <a:pt x="5979857" y="0"/>
                </a:lnTo>
                <a:lnTo>
                  <a:pt x="5979857" y="1919929"/>
                </a:lnTo>
                <a:lnTo>
                  <a:pt x="0" y="1919929"/>
                </a:lnTo>
                <a:lnTo>
                  <a:pt x="0" y="0"/>
                </a:lnTo>
                <a:close/>
              </a:path>
            </a:pathLst>
          </a:custGeom>
          <a:blipFill>
            <a:blip r:embed="rId2"/>
            <a:stretch>
              <a:fillRect l="0" t="0" r="0" b="-5752"/>
            </a:stretch>
          </a:blipFill>
        </p:spPr>
      </p:sp>
      <p:sp>
        <p:nvSpPr>
          <p:cNvPr name="Freeform 3" id="3"/>
          <p:cNvSpPr/>
          <p:nvPr/>
        </p:nvSpPr>
        <p:spPr>
          <a:xfrm flipH="false" flipV="false" rot="0">
            <a:off x="321339" y="2120927"/>
            <a:ext cx="9781284" cy="5489746"/>
          </a:xfrm>
          <a:custGeom>
            <a:avLst/>
            <a:gdLst/>
            <a:ahLst/>
            <a:cxnLst/>
            <a:rect r="r" b="b" t="t" l="l"/>
            <a:pathLst>
              <a:path h="5489746" w="9781284">
                <a:moveTo>
                  <a:pt x="0" y="0"/>
                </a:moveTo>
                <a:lnTo>
                  <a:pt x="9781284" y="0"/>
                </a:lnTo>
                <a:lnTo>
                  <a:pt x="9781284" y="5489746"/>
                </a:lnTo>
                <a:lnTo>
                  <a:pt x="0" y="5489746"/>
                </a:lnTo>
                <a:lnTo>
                  <a:pt x="0" y="0"/>
                </a:lnTo>
                <a:close/>
              </a:path>
            </a:pathLst>
          </a:custGeom>
          <a:blipFill>
            <a:blip r:embed="rId3"/>
            <a:stretch>
              <a:fillRect l="0" t="0" r="0" b="0"/>
            </a:stretch>
          </a:blipFill>
        </p:spPr>
      </p:sp>
      <p:sp>
        <p:nvSpPr>
          <p:cNvPr name="Freeform 4" id="4"/>
          <p:cNvSpPr/>
          <p:nvPr/>
        </p:nvSpPr>
        <p:spPr>
          <a:xfrm flipH="false" flipV="false" rot="0">
            <a:off x="10387438" y="2681765"/>
            <a:ext cx="7317690" cy="2423513"/>
          </a:xfrm>
          <a:custGeom>
            <a:avLst/>
            <a:gdLst/>
            <a:ahLst/>
            <a:cxnLst/>
            <a:rect r="r" b="b" t="t" l="l"/>
            <a:pathLst>
              <a:path h="2423513" w="7317690">
                <a:moveTo>
                  <a:pt x="0" y="0"/>
                </a:moveTo>
                <a:lnTo>
                  <a:pt x="7317691" y="0"/>
                </a:lnTo>
                <a:lnTo>
                  <a:pt x="7317691" y="2423514"/>
                </a:lnTo>
                <a:lnTo>
                  <a:pt x="0" y="2423514"/>
                </a:lnTo>
                <a:lnTo>
                  <a:pt x="0" y="0"/>
                </a:lnTo>
                <a:close/>
              </a:path>
            </a:pathLst>
          </a:custGeom>
          <a:blipFill>
            <a:blip r:embed="rId4"/>
            <a:stretch>
              <a:fillRect l="0" t="0" r="0" b="0"/>
            </a:stretch>
          </a:blipFill>
        </p:spPr>
      </p:sp>
      <p:sp>
        <p:nvSpPr>
          <p:cNvPr name="TextBox 5" id="5"/>
          <p:cNvSpPr txBox="true"/>
          <p:nvPr/>
        </p:nvSpPr>
        <p:spPr>
          <a:xfrm rot="0">
            <a:off x="10387438" y="896700"/>
            <a:ext cx="7305455" cy="863561"/>
          </a:xfrm>
          <a:prstGeom prst="rect">
            <a:avLst/>
          </a:prstGeom>
        </p:spPr>
        <p:txBody>
          <a:bodyPr anchor="t" rtlCol="false" tIns="0" lIns="0" bIns="0" rIns="0">
            <a:spAutoFit/>
          </a:bodyPr>
          <a:lstStyle/>
          <a:p>
            <a:pPr algn="l">
              <a:lnSpc>
                <a:spcPts val="6292"/>
              </a:lnSpc>
            </a:pPr>
            <a:r>
              <a:rPr lang="en-US" sz="7233" spc="-354">
                <a:solidFill>
                  <a:srgbClr val="000000"/>
                </a:solidFill>
                <a:latin typeface="TT Interphases"/>
                <a:ea typeface="TT Interphases"/>
                <a:cs typeface="TT Interphases"/>
                <a:sym typeface="TT Interphases"/>
              </a:rPr>
              <a:t>Queries &amp; Methods</a:t>
            </a:r>
          </a:p>
        </p:txBody>
      </p:sp>
      <p:sp>
        <p:nvSpPr>
          <p:cNvPr name="TextBox 6" id="6"/>
          <p:cNvSpPr txBox="true"/>
          <p:nvPr/>
        </p:nvSpPr>
        <p:spPr>
          <a:xfrm rot="0">
            <a:off x="10467222" y="2297488"/>
            <a:ext cx="6792078" cy="384277"/>
          </a:xfrm>
          <a:prstGeom prst="rect">
            <a:avLst/>
          </a:prstGeom>
        </p:spPr>
        <p:txBody>
          <a:bodyPr anchor="t" rtlCol="false" tIns="0" lIns="0" bIns="0" rIns="0">
            <a:spAutoFit/>
          </a:bodyPr>
          <a:lstStyle/>
          <a:p>
            <a:pPr algn="ctr">
              <a:lnSpc>
                <a:spcPts val="2573"/>
              </a:lnSpc>
              <a:spcBef>
                <a:spcPct val="0"/>
              </a:spcBef>
            </a:pPr>
            <a:r>
              <a:rPr lang="en-US" b="true" sz="2523">
                <a:solidFill>
                  <a:srgbClr val="000000"/>
                </a:solidFill>
                <a:latin typeface="Times New Roman MT Bold"/>
                <a:ea typeface="Times New Roman MT Bold"/>
                <a:cs typeface="Times New Roman MT Bold"/>
                <a:sym typeface="Times New Roman MT Bold"/>
              </a:rPr>
              <a:t>Q8: Top 2 Most expensive Items in each restaurant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08757" y="8145385"/>
            <a:ext cx="291723" cy="202084"/>
          </a:xfrm>
          <a:custGeom>
            <a:avLst/>
            <a:gdLst/>
            <a:ahLst/>
            <a:cxnLst/>
            <a:rect r="r" b="b" t="t" l="l"/>
            <a:pathLst>
              <a:path h="202084" w="291723">
                <a:moveTo>
                  <a:pt x="0" y="0"/>
                </a:moveTo>
                <a:lnTo>
                  <a:pt x="291723" y="0"/>
                </a:lnTo>
                <a:lnTo>
                  <a:pt x="291723" y="202085"/>
                </a:lnTo>
                <a:lnTo>
                  <a:pt x="0" y="202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85414" y="4205350"/>
            <a:ext cx="6125602" cy="938150"/>
          </a:xfrm>
          <a:prstGeom prst="rect">
            <a:avLst/>
          </a:prstGeom>
        </p:spPr>
        <p:txBody>
          <a:bodyPr anchor="t" rtlCol="false" tIns="0" lIns="0" bIns="0" rIns="0">
            <a:spAutoFit/>
          </a:bodyPr>
          <a:lstStyle/>
          <a:p>
            <a:pPr algn="l">
              <a:lnSpc>
                <a:spcPts val="6773"/>
              </a:lnSpc>
            </a:pPr>
            <a:r>
              <a:rPr lang="en-US" sz="7785" spc="-381">
                <a:solidFill>
                  <a:srgbClr val="000000"/>
                </a:solidFill>
                <a:latin typeface="TT Interphases"/>
                <a:ea typeface="TT Interphases"/>
                <a:cs typeface="TT Interphases"/>
                <a:sym typeface="TT Interphases"/>
              </a:rPr>
              <a:t>Project Insights </a:t>
            </a:r>
          </a:p>
        </p:txBody>
      </p:sp>
      <p:sp>
        <p:nvSpPr>
          <p:cNvPr name="TextBox 4" id="4"/>
          <p:cNvSpPr txBox="true"/>
          <p:nvPr/>
        </p:nvSpPr>
        <p:spPr>
          <a:xfrm rot="0">
            <a:off x="1028700" y="7205980"/>
            <a:ext cx="4273073" cy="205232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Customers consistently gravitate toward dishes like Momos, Fish Curry, and Aloo Paratha, making them the most frequently ordered items across restaurants. This strong preference highlights the importance of keeping these dishes well-stocked and prominently featured on menus and promotions.</a:t>
            </a:r>
          </a:p>
        </p:txBody>
      </p:sp>
      <p:sp>
        <p:nvSpPr>
          <p:cNvPr name="TextBox 5" id="5"/>
          <p:cNvSpPr txBox="true"/>
          <p:nvPr/>
        </p:nvSpPr>
        <p:spPr>
          <a:xfrm rot="0">
            <a:off x="1028700" y="6718146"/>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01</a:t>
            </a:r>
          </a:p>
        </p:txBody>
      </p:sp>
      <p:sp>
        <p:nvSpPr>
          <p:cNvPr name="TextBox 6" id="6"/>
          <p:cNvSpPr txBox="true"/>
          <p:nvPr/>
        </p:nvSpPr>
        <p:spPr>
          <a:xfrm rot="0">
            <a:off x="7007463" y="7205980"/>
            <a:ext cx="4273073" cy="205232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A handful of loyal customers, such as Ishaan Sharma and Vihaan Das, have placed the highest number of orders, showing strong engagement. With 70% of users falling into the Gold tier, there’s a clear opportunity to nurture this loyalty through targeted rewards, exclusive deals, or early access to new offerings</a:t>
            </a:r>
          </a:p>
        </p:txBody>
      </p:sp>
      <p:sp>
        <p:nvSpPr>
          <p:cNvPr name="TextBox 7" id="7"/>
          <p:cNvSpPr txBox="true"/>
          <p:nvPr/>
        </p:nvSpPr>
        <p:spPr>
          <a:xfrm rot="0">
            <a:off x="7007463" y="6718146"/>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02</a:t>
            </a:r>
          </a:p>
        </p:txBody>
      </p:sp>
      <p:sp>
        <p:nvSpPr>
          <p:cNvPr name="TextBox 8" id="8"/>
          <p:cNvSpPr txBox="true"/>
          <p:nvPr/>
        </p:nvSpPr>
        <p:spPr>
          <a:xfrm rot="0">
            <a:off x="12986227" y="7205980"/>
            <a:ext cx="4273073" cy="175704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Spending behavior is also encouraging — nearly 90% of all orders exceed ₹500, especially in cities like Mumbai and Hyderabad where average order values are the highest. This suggests that customers are comfortable spending more, which opens doors for upselling and premium combos.</a:t>
            </a:r>
          </a:p>
        </p:txBody>
      </p:sp>
      <p:sp>
        <p:nvSpPr>
          <p:cNvPr name="TextBox 9" id="9"/>
          <p:cNvSpPr txBox="true"/>
          <p:nvPr/>
        </p:nvSpPr>
        <p:spPr>
          <a:xfrm rot="0">
            <a:off x="12986227" y="6718146"/>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03</a:t>
            </a:r>
          </a:p>
        </p:txBody>
      </p:sp>
      <p:sp>
        <p:nvSpPr>
          <p:cNvPr name="Freeform 10" id="10"/>
          <p:cNvSpPr/>
          <p:nvPr/>
        </p:nvSpPr>
        <p:spPr>
          <a:xfrm flipH="false" flipV="false" rot="0">
            <a:off x="11985387" y="8145385"/>
            <a:ext cx="291723" cy="202084"/>
          </a:xfrm>
          <a:custGeom>
            <a:avLst/>
            <a:gdLst/>
            <a:ahLst/>
            <a:cxnLst/>
            <a:rect r="r" b="b" t="t" l="l"/>
            <a:pathLst>
              <a:path h="202084" w="291723">
                <a:moveTo>
                  <a:pt x="0" y="0"/>
                </a:moveTo>
                <a:lnTo>
                  <a:pt x="291723" y="0"/>
                </a:lnTo>
                <a:lnTo>
                  <a:pt x="291723" y="202085"/>
                </a:lnTo>
                <a:lnTo>
                  <a:pt x="0" y="202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548540" y="1418631"/>
            <a:ext cx="7148446" cy="4185090"/>
          </a:xfrm>
          <a:custGeom>
            <a:avLst/>
            <a:gdLst/>
            <a:ahLst/>
            <a:cxnLst/>
            <a:rect r="r" b="b" t="t" l="l"/>
            <a:pathLst>
              <a:path h="4185090" w="7148446">
                <a:moveTo>
                  <a:pt x="0" y="0"/>
                </a:moveTo>
                <a:lnTo>
                  <a:pt x="7148446" y="0"/>
                </a:lnTo>
                <a:lnTo>
                  <a:pt x="7148446" y="4185090"/>
                </a:lnTo>
                <a:lnTo>
                  <a:pt x="0" y="4185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10800000">
            <a:off x="0" y="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08757" y="8145385"/>
            <a:ext cx="291723" cy="202084"/>
          </a:xfrm>
          <a:custGeom>
            <a:avLst/>
            <a:gdLst/>
            <a:ahLst/>
            <a:cxnLst/>
            <a:rect r="r" b="b" t="t" l="l"/>
            <a:pathLst>
              <a:path h="202084" w="291723">
                <a:moveTo>
                  <a:pt x="0" y="0"/>
                </a:moveTo>
                <a:lnTo>
                  <a:pt x="291723" y="0"/>
                </a:lnTo>
                <a:lnTo>
                  <a:pt x="291723" y="202085"/>
                </a:lnTo>
                <a:lnTo>
                  <a:pt x="0" y="202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7205980"/>
            <a:ext cx="4273073" cy="175704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When it comes to revenue, Fresh Garden leads the pack, followed by Spice Kitchen and Fresh Hub. This ranking not only reflects customer preference but also helps identify which outlets are performing well and which may need strategic support.</a:t>
            </a:r>
          </a:p>
        </p:txBody>
      </p:sp>
      <p:sp>
        <p:nvSpPr>
          <p:cNvPr name="TextBox 4" id="4"/>
          <p:cNvSpPr txBox="true"/>
          <p:nvPr/>
        </p:nvSpPr>
        <p:spPr>
          <a:xfrm rot="0">
            <a:off x="1028700" y="6718146"/>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04</a:t>
            </a:r>
          </a:p>
        </p:txBody>
      </p:sp>
      <p:sp>
        <p:nvSpPr>
          <p:cNvPr name="TextBox 5" id="5"/>
          <p:cNvSpPr txBox="true"/>
          <p:nvPr/>
        </p:nvSpPr>
        <p:spPr>
          <a:xfrm rot="0">
            <a:off x="7007463" y="7205980"/>
            <a:ext cx="4273073" cy="146177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Interestingly, Non-Metro cities account for nearly 80% of total orders, revealing a strong customer base outside major urban centers. This insight can guide expansion plans, regional marketing, and delivery optimization.</a:t>
            </a:r>
          </a:p>
        </p:txBody>
      </p:sp>
      <p:sp>
        <p:nvSpPr>
          <p:cNvPr name="TextBox 6" id="6"/>
          <p:cNvSpPr txBox="true"/>
          <p:nvPr/>
        </p:nvSpPr>
        <p:spPr>
          <a:xfrm rot="0">
            <a:off x="7007463" y="6718146"/>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05</a:t>
            </a:r>
          </a:p>
        </p:txBody>
      </p:sp>
      <p:sp>
        <p:nvSpPr>
          <p:cNvPr name="TextBox 7" id="7"/>
          <p:cNvSpPr txBox="true"/>
          <p:nvPr/>
        </p:nvSpPr>
        <p:spPr>
          <a:xfrm rot="0">
            <a:off x="12986227" y="7205980"/>
            <a:ext cx="4273073" cy="175704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Lastly, premium items like Hakka Noodles (₹567) and Dal Tadka (₹365) stand out as the most expensive across restaurants. These dishes can be positioned as signature offerings, and their pricing can be evaluated to ensure they align with customer expectations and perceived value.</a:t>
            </a:r>
          </a:p>
        </p:txBody>
      </p:sp>
      <p:sp>
        <p:nvSpPr>
          <p:cNvPr name="TextBox 8" id="8"/>
          <p:cNvSpPr txBox="true"/>
          <p:nvPr/>
        </p:nvSpPr>
        <p:spPr>
          <a:xfrm rot="0">
            <a:off x="12986227" y="6718146"/>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06</a:t>
            </a:r>
          </a:p>
        </p:txBody>
      </p:sp>
      <p:sp>
        <p:nvSpPr>
          <p:cNvPr name="Freeform 9" id="9"/>
          <p:cNvSpPr/>
          <p:nvPr/>
        </p:nvSpPr>
        <p:spPr>
          <a:xfrm flipH="false" flipV="false" rot="0">
            <a:off x="11985387" y="8145385"/>
            <a:ext cx="291723" cy="202084"/>
          </a:xfrm>
          <a:custGeom>
            <a:avLst/>
            <a:gdLst/>
            <a:ahLst/>
            <a:cxnLst/>
            <a:rect r="r" b="b" t="t" l="l"/>
            <a:pathLst>
              <a:path h="202084" w="291723">
                <a:moveTo>
                  <a:pt x="0" y="0"/>
                </a:moveTo>
                <a:lnTo>
                  <a:pt x="291723" y="0"/>
                </a:lnTo>
                <a:lnTo>
                  <a:pt x="291723" y="202085"/>
                </a:lnTo>
                <a:lnTo>
                  <a:pt x="0" y="202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1548540" y="1418631"/>
            <a:ext cx="7148446" cy="4185090"/>
          </a:xfrm>
          <a:custGeom>
            <a:avLst/>
            <a:gdLst/>
            <a:ahLst/>
            <a:cxnLst/>
            <a:rect r="r" b="b" t="t" l="l"/>
            <a:pathLst>
              <a:path h="4185090" w="7148446">
                <a:moveTo>
                  <a:pt x="0" y="0"/>
                </a:moveTo>
                <a:lnTo>
                  <a:pt x="7148446" y="0"/>
                </a:lnTo>
                <a:lnTo>
                  <a:pt x="7148446" y="4185090"/>
                </a:lnTo>
                <a:lnTo>
                  <a:pt x="0" y="4185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685414" y="4205350"/>
            <a:ext cx="6125602" cy="938150"/>
          </a:xfrm>
          <a:prstGeom prst="rect">
            <a:avLst/>
          </a:prstGeom>
        </p:spPr>
        <p:txBody>
          <a:bodyPr anchor="t" rtlCol="false" tIns="0" lIns="0" bIns="0" rIns="0">
            <a:spAutoFit/>
          </a:bodyPr>
          <a:lstStyle/>
          <a:p>
            <a:pPr algn="l">
              <a:lnSpc>
                <a:spcPts val="6773"/>
              </a:lnSpc>
            </a:pPr>
            <a:r>
              <a:rPr lang="en-US" sz="7785" spc="-381">
                <a:solidFill>
                  <a:srgbClr val="000000"/>
                </a:solidFill>
                <a:latin typeface="TT Interphases"/>
                <a:ea typeface="TT Interphases"/>
                <a:cs typeface="TT Interphases"/>
                <a:sym typeface="TT Interphases"/>
              </a:rPr>
              <a:t>Project Insights </a:t>
            </a:r>
          </a:p>
        </p:txBody>
      </p:sp>
      <p:sp>
        <p:nvSpPr>
          <p:cNvPr name="Freeform 12" id="12"/>
          <p:cNvSpPr/>
          <p:nvPr/>
        </p:nvSpPr>
        <p:spPr>
          <a:xfrm flipH="true" flipV="false" rot="-10800000">
            <a:off x="0" y="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5743" y="6381575"/>
            <a:ext cx="6273788" cy="4049445"/>
          </a:xfrm>
          <a:custGeom>
            <a:avLst/>
            <a:gdLst/>
            <a:ahLst/>
            <a:cxnLst/>
            <a:rect r="r" b="b" t="t" l="l"/>
            <a:pathLst>
              <a:path h="4049445" w="6273788">
                <a:moveTo>
                  <a:pt x="0" y="0"/>
                </a:moveTo>
                <a:lnTo>
                  <a:pt x="6273788" y="0"/>
                </a:lnTo>
                <a:lnTo>
                  <a:pt x="6273788" y="4049445"/>
                </a:lnTo>
                <a:lnTo>
                  <a:pt x="0" y="40494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05254" y="2282873"/>
            <a:ext cx="15396097"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 Conclusion &amp; Recommendations</a:t>
            </a:r>
          </a:p>
        </p:txBody>
      </p:sp>
      <p:sp>
        <p:nvSpPr>
          <p:cNvPr name="TextBox 4" id="4"/>
          <p:cNvSpPr txBox="true"/>
          <p:nvPr/>
        </p:nvSpPr>
        <p:spPr>
          <a:xfrm rot="0">
            <a:off x="6639161" y="3645020"/>
            <a:ext cx="9662190" cy="4381984"/>
          </a:xfrm>
          <a:prstGeom prst="rect">
            <a:avLst/>
          </a:prstGeom>
        </p:spPr>
        <p:txBody>
          <a:bodyPr anchor="t" rtlCol="false" tIns="0" lIns="0" bIns="0" rIns="0">
            <a:spAutoFit/>
          </a:bodyPr>
          <a:lstStyle/>
          <a:p>
            <a:pPr algn="l">
              <a:lnSpc>
                <a:spcPts val="2723"/>
              </a:lnSpc>
            </a:pPr>
            <a:r>
              <a:rPr lang="en-US" sz="1945" spc="-95">
                <a:solidFill>
                  <a:srgbClr val="000000"/>
                </a:solidFill>
                <a:latin typeface="TT Interphases"/>
                <a:ea typeface="TT Interphases"/>
                <a:cs typeface="TT Interphases"/>
                <a:sym typeface="TT Interphases"/>
              </a:rPr>
              <a:t>The data tells a clear story — customers really enjoy dishes like Momos and Fish Curry, making them the top favorites across restaurants. Most people are placing high-value orders, which shows they’re happy to spend more for good food. Interestingly, most of the orders are coming from smaller, non-metro cities, proving that the brand’s reach is growing beyond big cities. Restaurants like Fresh Garden are doing very well, while others like Fresh Hub have room to grow. Overall, the results show strong customer loyalty, healthy spending habits, and great opportunities to expand and improve service in new areas.</a:t>
            </a:r>
          </a:p>
          <a:p>
            <a:pPr algn="l">
              <a:lnSpc>
                <a:spcPts val="2723"/>
              </a:lnSpc>
            </a:pPr>
          </a:p>
          <a:p>
            <a:pPr algn="l">
              <a:lnSpc>
                <a:spcPts val="2723"/>
              </a:lnSpc>
            </a:pPr>
            <a:r>
              <a:rPr lang="en-US" sz="1945" spc="-95">
                <a:solidFill>
                  <a:srgbClr val="000000"/>
                </a:solidFill>
                <a:latin typeface="TT Interphases"/>
                <a:ea typeface="TT Interphases"/>
                <a:cs typeface="TT Interphases"/>
                <a:sym typeface="TT Interphases"/>
              </a:rPr>
              <a:t>The business  focus on attracting more customers from smaller cities, as they already make most of the orders. High-performing restaurants like Fresh Garden can guide others to improve. Loyal customers deserve special offers to keep them engaged, while promoting premium dishes and combo meals can boost overall sales. Strengthening delivery in non-metro areas and supporting weaker outlets will help the business grow faster and keep customers satisfied everywhere.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27580" y="1514469"/>
            <a:ext cx="6455639" cy="6432164"/>
          </a:xfrm>
          <a:custGeom>
            <a:avLst/>
            <a:gdLst/>
            <a:ahLst/>
            <a:cxnLst/>
            <a:rect r="r" b="b" t="t" l="l"/>
            <a:pathLst>
              <a:path h="6432164" w="6455639">
                <a:moveTo>
                  <a:pt x="0" y="0"/>
                </a:moveTo>
                <a:lnTo>
                  <a:pt x="6455639" y="0"/>
                </a:lnTo>
                <a:lnTo>
                  <a:pt x="6455639" y="6432164"/>
                </a:lnTo>
                <a:lnTo>
                  <a:pt x="0" y="64321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7718033"/>
            <a:ext cx="228600" cy="228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49864"/>
            </a:solidFill>
          </p:spPr>
        </p:sp>
        <p:sp>
          <p:nvSpPr>
            <p:cNvPr name="TextBox 5" id="5"/>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sp>
        <p:nvSpPr>
          <p:cNvPr name="TextBox 6" id="6"/>
          <p:cNvSpPr txBox="true"/>
          <p:nvPr/>
        </p:nvSpPr>
        <p:spPr>
          <a:xfrm rot="0">
            <a:off x="1028700" y="4000357"/>
            <a:ext cx="8332616" cy="1745348"/>
          </a:xfrm>
          <a:prstGeom prst="rect">
            <a:avLst/>
          </a:prstGeom>
        </p:spPr>
        <p:txBody>
          <a:bodyPr anchor="t" rtlCol="false" tIns="0" lIns="0" bIns="0" rIns="0">
            <a:spAutoFit/>
          </a:bodyPr>
          <a:lstStyle/>
          <a:p>
            <a:pPr algn="l">
              <a:lnSpc>
                <a:spcPts val="12524"/>
              </a:lnSpc>
            </a:pPr>
            <a:r>
              <a:rPr lang="en-US" sz="14395" spc="-705">
                <a:solidFill>
                  <a:srgbClr val="000000"/>
                </a:solidFill>
                <a:latin typeface="TT Interphases"/>
                <a:ea typeface="TT Interphases"/>
                <a:cs typeface="TT Interphases"/>
                <a:sym typeface="TT Interphases"/>
              </a:rPr>
              <a:t>Thank You</a:t>
            </a:r>
          </a:p>
        </p:txBody>
      </p:sp>
      <p:sp>
        <p:nvSpPr>
          <p:cNvPr name="TextBox 7" id="7"/>
          <p:cNvSpPr txBox="true"/>
          <p:nvPr/>
        </p:nvSpPr>
        <p:spPr>
          <a:xfrm rot="0">
            <a:off x="1566219" y="7708508"/>
            <a:ext cx="2411694" cy="266319"/>
          </a:xfrm>
          <a:prstGeom prst="rect">
            <a:avLst/>
          </a:prstGeom>
        </p:spPr>
        <p:txBody>
          <a:bodyPr anchor="t" rtlCol="false" tIns="0" lIns="0" bIns="0" rIns="0">
            <a:spAutoFit/>
          </a:bodyPr>
          <a:lstStyle/>
          <a:p>
            <a:pPr algn="l">
              <a:lnSpc>
                <a:spcPts val="2193"/>
              </a:lnSpc>
            </a:pPr>
            <a:r>
              <a:rPr lang="en-US" sz="1700" spc="-51">
                <a:solidFill>
                  <a:srgbClr val="000000"/>
                </a:solidFill>
                <a:latin typeface="TT Interphases"/>
                <a:ea typeface="TT Interphases"/>
                <a:cs typeface="TT Interphases"/>
                <a:sym typeface="TT Interphases"/>
              </a:rPr>
              <a:t>+91 XXXXXXXX14</a:t>
            </a:r>
          </a:p>
        </p:txBody>
      </p:sp>
      <p:sp>
        <p:nvSpPr>
          <p:cNvPr name="TextBox 8" id="8"/>
          <p:cNvSpPr txBox="true"/>
          <p:nvPr/>
        </p:nvSpPr>
        <p:spPr>
          <a:xfrm rot="0">
            <a:off x="1566219" y="8350245"/>
            <a:ext cx="2790756" cy="266319"/>
          </a:xfrm>
          <a:prstGeom prst="rect">
            <a:avLst/>
          </a:prstGeom>
        </p:spPr>
        <p:txBody>
          <a:bodyPr anchor="t" rtlCol="false" tIns="0" lIns="0" bIns="0" rIns="0">
            <a:spAutoFit/>
          </a:bodyPr>
          <a:lstStyle/>
          <a:p>
            <a:pPr algn="l">
              <a:lnSpc>
                <a:spcPts val="2193"/>
              </a:lnSpc>
            </a:pPr>
            <a:r>
              <a:rPr lang="en-US" sz="1700" spc="-51">
                <a:solidFill>
                  <a:srgbClr val="000000"/>
                </a:solidFill>
                <a:latin typeface="TT Interphases"/>
                <a:ea typeface="TT Interphases"/>
                <a:cs typeface="TT Interphases"/>
                <a:sym typeface="TT Interphases"/>
              </a:rPr>
              <a:t>bhartimanjhi54@gmail.com</a:t>
            </a:r>
          </a:p>
        </p:txBody>
      </p:sp>
      <p:grpSp>
        <p:nvGrpSpPr>
          <p:cNvPr name="Group 9" id="9"/>
          <p:cNvGrpSpPr/>
          <p:nvPr/>
        </p:nvGrpSpPr>
        <p:grpSpPr>
          <a:xfrm rot="0">
            <a:off x="1028700" y="8373867"/>
            <a:ext cx="228600" cy="2286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79E3"/>
            </a:solidFill>
          </p:spPr>
        </p:sp>
        <p:sp>
          <p:nvSpPr>
            <p:cNvPr name="TextBox 11" id="11"/>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DAG2uQIrKyo</dc:identifier>
  <dcterms:modified xsi:type="dcterms:W3CDTF">2011-08-01T06:04:30Z</dcterms:modified>
  <cp:revision>1</cp:revision>
  <dc:title>Online food delivery project report</dc:title>
</cp:coreProperties>
</file>